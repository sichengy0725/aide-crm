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70" r:id="rId4"/>
    <p:sldId id="269" r:id="rId5"/>
    <p:sldId id="268" r:id="rId6"/>
    <p:sldId id="272" r:id="rId7"/>
    <p:sldId id="271" r:id="rId8"/>
    <p:sldId id="264" r:id="rId9"/>
    <p:sldId id="265" r:id="rId10"/>
    <p:sldId id="276" r:id="rId11"/>
    <p:sldId id="277" r:id="rId12"/>
    <p:sldId id="278" r:id="rId13"/>
    <p:sldId id="274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C30DBB-9546-41CD-8C84-8188FB6F7970}" v="69" dt="2026-07-13T14:15:49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cheng Yang" userId="9cd9ccf7fa329387" providerId="LiveId" clId="{B56CEE50-1CB5-4F22-9469-129262569FA4}"/>
    <pc:docChg chg="custSel addSld modSld">
      <pc:chgData name="Sicheng Yang" userId="9cd9ccf7fa329387" providerId="LiveId" clId="{B56CEE50-1CB5-4F22-9469-129262569FA4}" dt="2026-07-13T14:56:35.065" v="683" actId="20577"/>
      <pc:docMkLst>
        <pc:docMk/>
      </pc:docMkLst>
      <pc:sldChg chg="modSp mod">
        <pc:chgData name="Sicheng Yang" userId="9cd9ccf7fa329387" providerId="LiveId" clId="{B56CEE50-1CB5-4F22-9469-129262569FA4}" dt="2026-07-13T14:15:49.469" v="70" actId="20577"/>
        <pc:sldMkLst>
          <pc:docMk/>
          <pc:sldMk cId="3280140731" sldId="270"/>
        </pc:sldMkLst>
        <pc:spChg chg="mod">
          <ac:chgData name="Sicheng Yang" userId="9cd9ccf7fa329387" providerId="LiveId" clId="{B56CEE50-1CB5-4F22-9469-129262569FA4}" dt="2026-07-13T14:15:49.469" v="70" actId="20577"/>
          <ac:spMkLst>
            <pc:docMk/>
            <pc:sldMk cId="3280140731" sldId="270"/>
            <ac:spMk id="3" creationId="{83E7D7DA-E6F2-DC95-15B7-FAC55E4BBDA1}"/>
          </ac:spMkLst>
        </pc:spChg>
      </pc:sldChg>
      <pc:sldChg chg="modSp new mod">
        <pc:chgData name="Sicheng Yang" userId="9cd9ccf7fa329387" providerId="LiveId" clId="{B56CEE50-1CB5-4F22-9469-129262569FA4}" dt="2026-07-13T14:56:35.065" v="683" actId="20577"/>
        <pc:sldMkLst>
          <pc:docMk/>
          <pc:sldMk cId="2301365047" sldId="279"/>
        </pc:sldMkLst>
        <pc:spChg chg="mod">
          <ac:chgData name="Sicheng Yang" userId="9cd9ccf7fa329387" providerId="LiveId" clId="{B56CEE50-1CB5-4F22-9469-129262569FA4}" dt="2026-07-13T14:56:35.065" v="683" actId="20577"/>
          <ac:spMkLst>
            <pc:docMk/>
            <pc:sldMk cId="2301365047" sldId="279"/>
            <ac:spMk id="3" creationId="{263881F8-773D-DE8D-1BBC-0BCFDE8BC70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4568-EE25-F214-602F-29F5FF4C3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BEA61-6655-06D3-E54E-BBA79A26E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E1533-A903-CA25-7F37-193AD8FD9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D901C-AC87-480D-B854-54FBE1B8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E1D88-DFB9-5FFB-F561-2BB371F9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39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AB5C-C352-7B72-6617-B2353FA6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FBECE-5D77-9AC8-C149-7BF700B9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00A44-A546-8D70-D978-228F27C38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2E3DC-95A9-511D-E83F-124816E6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589-13F9-9600-0361-E0BEC4F5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8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4CB2-1A3D-D53D-E242-93193A94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A83D-A009-FC56-CD83-084EC9020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81E4C-1FF9-BFE6-F48E-E5D76F345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2F33F-DCD6-DCBA-9A41-7AACF7ED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AE1D9-9271-3BB4-70B3-AEABAD0D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6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9FA6-4DA7-0C5B-ACE4-07194B7AA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E8006-9EBB-23CC-FCC7-FAD87C455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188CB-5B71-1F85-9EBD-E81A87F9C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8165B-4FA9-C0B1-03F1-0D6FE0DF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CE4DB-756F-8505-4BA8-69C3FE097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0C860-69A6-F732-8A7B-C397226D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1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F127-65FA-CE1B-301B-68E285E61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F1140-D25D-6EA4-6F40-804054564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5AD28-77A6-7F7A-50F6-78771E072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2B02CE-5B53-5121-D039-3073F1EDA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3EDAC-0FFC-8EEB-FD34-632CAE4BC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6E7B6-0851-D0C7-DF5A-04A4644A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DB8D9-7879-EAE5-D3DF-977045F2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5D915-CA74-2625-9221-01B285F0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3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0F7E-11FE-3E7F-BD5E-5FD671CE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F3274-2B1A-8375-E22D-EA758BAC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5C19-6F25-0794-F2C3-A9FCD077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A8FA-A77D-57F4-DD2F-B0B33265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86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0A1BB-C3DC-22B1-140F-9B1CA9A7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CC284-CC76-D193-F9C5-95AE6A4B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A115C-C82A-F926-02F4-F1BA9049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2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A697-09F0-18E0-CF7A-47526306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1FE1A-5907-2F08-5D11-4E7E7FCA9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02B0A-5336-4A9D-2ED4-ED30BEB1E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A83D6-F9AE-B560-CCDE-489BFB67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FE82E-BCB1-2677-2C50-3A3CD3CFA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11FB1-5EDE-EF70-1C84-71604EB3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7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4DF4-D864-8071-150C-7466AE25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779F8-3FA5-87B8-D86C-740D6C3D7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4F24A-5036-2662-6997-AD468B57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DF5AA-DB04-1D3E-6D5E-FF519F00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EDC50-5039-4C18-160C-000FD848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7A3C1-118D-C575-689F-9884FAB9E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7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E1C5-04CC-23CE-A830-00F559B0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F3636-CC16-9315-7049-BE68FB6E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12401-C8BB-DFBB-3DE1-C96F25EF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1DD8B-2530-C569-E31C-FE07F123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E919E-C5D5-9391-68DF-382DBB52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8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159EF-0643-346C-E650-363ED721C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163E5-C2E8-F965-9793-F8C7AB607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6181A-8036-CD50-F7D2-3681378B6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BD6C9-DFE1-BAE1-D6DD-FD91CBC0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F5360-49F2-74C9-F55B-B2BFC348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2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EE49B-BC23-688D-4AB3-C1529A77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C3EB1-ED41-47FB-A4D2-9F7214ABD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6015D-A4AD-A345-4106-265A4B775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001A5-CFE6-40E7-8870-4EB3BD94D07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AE8EA-842C-6AD5-6029-89DCC2228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E13AB-5DC6-E55A-B58F-05B793290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F19DE-F933-4C25-99D2-F71B196C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EC32-DEE3-CECB-1698-816A0FBB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1712"/>
            <a:ext cx="7848600" cy="11716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Alpha CRM and IPCRM	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D1DBE1-DC3C-D6FF-9830-22A26D53B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139" y="2468885"/>
            <a:ext cx="4116701" cy="2500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788567-3F7B-61D0-30AD-5D9849AF2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475" y="3217280"/>
            <a:ext cx="5149258" cy="100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5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5872-CFA7-0CF1-D339-9D8499C2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CFO-PRIDE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CEA30F-95D0-C843-B5C1-02DAD1100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441" y="1879085"/>
            <a:ext cx="5044877" cy="8916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8B0B0A-A6B9-B488-C9E7-3E81F584AFE8}"/>
                  </a:ext>
                </a:extLst>
              </p:cNvPr>
              <p:cNvSpPr txBox="1"/>
              <p:nvPr/>
            </p:nvSpPr>
            <p:spPr>
              <a:xfrm>
                <a:off x="1066800" y="2854960"/>
                <a:ext cx="9834880" cy="153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is probability of patient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on dose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dose specific fixed effect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patient specific random effect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prespecified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values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𝐼𝑛𝑣𝐺𝑎𝑚𝑚𝑎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8B0B0A-A6B9-B488-C9E7-3E81F584A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854960"/>
                <a:ext cx="9834880" cy="1530099"/>
              </a:xfrm>
              <a:prstGeom prst="rect">
                <a:avLst/>
              </a:prstGeom>
              <a:blipFill>
                <a:blip r:embed="rId3"/>
                <a:stretch>
                  <a:fillRect l="-186" t="-2390" b="-5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C2A838C-F58B-BB00-71C2-3B30BF03F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385059"/>
            <a:ext cx="3353091" cy="823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1D7539-1285-74F8-3DF2-D15E53C19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294" y="1952311"/>
            <a:ext cx="5471634" cy="23471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9A6F78-DA10-F86E-FFAE-074611120326}"/>
                  </a:ext>
                </a:extLst>
              </p:cNvPr>
              <p:cNvSpPr txBox="1"/>
              <p:nvPr/>
            </p:nvSpPr>
            <p:spPr>
              <a:xfrm>
                <a:off x="1244600" y="5179422"/>
                <a:ext cx="5044877" cy="1477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predetermined from CFO design </a:t>
                </a:r>
              </a:p>
              <a:p>
                <a:r>
                  <a:rPr lang="en-US" dirty="0"/>
                  <a:t>Early stop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)&gt;0.95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Final MTD selected by first applying isotonic regression then selecting MTD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9A6F78-DA10-F86E-FFAE-074611120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5179422"/>
                <a:ext cx="5044877" cy="1477905"/>
              </a:xfrm>
              <a:prstGeom prst="rect">
                <a:avLst/>
              </a:prstGeom>
              <a:blipFill>
                <a:blip r:embed="rId6"/>
                <a:stretch>
                  <a:fillRect l="-966" t="-2066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248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B701-110E-7902-E035-732B5C0D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CRM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7D7DA-E6F2-DC95-15B7-FAC55E4BBD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= skeleton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func>
                              </m:sup>
                            </m:sSubSup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func>
                              </m:sup>
                            </m:sSubSup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func>
                              </m:sup>
                            </m:sSubSup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func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Global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with prior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𝑏𝑒𝑡𝑎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𝑏𝑒𝑡𝑎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𝑏𝑒𝑡𝑎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(0.5,0.5)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7D7DA-E6F2-DC95-15B7-FAC55E4BBD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140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4CD3-8C49-422E-5C9F-82778473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Settings 5 dose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1CED0A-A82B-1A8E-18BD-B6D93F5B1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2165" y="2069470"/>
            <a:ext cx="5189670" cy="3558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B91821-7278-CD25-890F-059C519E986D}"/>
                  </a:ext>
                </a:extLst>
              </p:cNvPr>
              <p:cNvSpPr txBox="1"/>
              <p:nvPr/>
            </p:nvSpPr>
            <p:spPr>
              <a:xfrm>
                <a:off x="580165" y="1888067"/>
                <a:ext cx="5486400" cy="5151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Dose = 15, 20, 30, 35, 45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Alpha-CRM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(0,2)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Skeleton = c(0.15, 0.20, 0.30, 0.35, 0.45)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IPCRM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Cauchy(-2.8,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1/√2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beta(2.5,1.6)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exp(1)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CFO-PRIDE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(0.005, 0.01, 0.05, 0.1, 0.3)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B91821-7278-CD25-890F-059C519E9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65" y="1888067"/>
                <a:ext cx="5486400" cy="5151731"/>
              </a:xfrm>
              <a:prstGeom prst="rect">
                <a:avLst/>
              </a:prstGeom>
              <a:blipFill>
                <a:blip r:embed="rId3"/>
                <a:stretch>
                  <a:fillRect l="-667" t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203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ED60-BD33-57E0-A006-3226DB16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settings 8 dose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A825EE8-B91C-2B7D-E778-6B0E1C06DB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285750" indent="-285750"/>
                <a:r>
                  <a:rPr lang="en-US" dirty="0"/>
                  <a:t>Dose = 10, 20, 30, 40, 50, 60, 70, 80</a:t>
                </a:r>
              </a:p>
              <a:p>
                <a:pPr marL="285750" indent="-285750"/>
                <a:r>
                  <a:rPr lang="en-US" dirty="0"/>
                  <a:t>Alpha-CRM</a:t>
                </a:r>
              </a:p>
              <a:p>
                <a:pPr marL="742950" lvl="1" indent="-28575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pPr marL="742950" lvl="1" indent="-28575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(0,2)</m:t>
                    </m:r>
                  </m:oMath>
                </a14:m>
                <a:endParaRPr lang="en-US" dirty="0"/>
              </a:p>
              <a:p>
                <a:pPr marL="742950" lvl="1" indent="-285750"/>
                <a:r>
                  <a:rPr lang="en-US" dirty="0"/>
                  <a:t>Skeleton = c(0.12,0.16,0.20,0.25,0.30,0.35,0.40,0.45)</a:t>
                </a:r>
              </a:p>
              <a:p>
                <a:pPr marL="285750" indent="-285750"/>
                <a:r>
                  <a:rPr lang="en-US" dirty="0"/>
                  <a:t>IPCRM</a:t>
                </a:r>
              </a:p>
              <a:p>
                <a:pPr marL="742950" lvl="1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Cauchy(-2.2,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1/√2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742950" lvl="1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beta(2.2,1.6)</a:t>
                </a:r>
              </a:p>
              <a:p>
                <a:pPr marL="742950" lvl="1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exp(1)</a:t>
                </a:r>
              </a:p>
              <a:p>
                <a:pPr marL="285750" indent="-285750"/>
                <a:r>
                  <a:rPr lang="en-US" dirty="0"/>
                  <a:t>CFO-PRIDE</a:t>
                </a:r>
              </a:p>
              <a:p>
                <a:pPr marL="742950" lvl="1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0.002, 0.008, 0.012, 0.04, 0.08, 0.1, 0.2, 0.35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742950" lvl="1" indent="-285750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marL="742950" lvl="1" indent="-28575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A825EE8-B91C-2B7D-E778-6B0E1C06D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3E25D33-1E38-3D7F-93CB-203A5A6E9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290372"/>
            <a:ext cx="4592535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4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D609-7722-3CD6-E898-89AE67E4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679E6-4655-5ECF-11A1-ED62297B5C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 = 30, 45 for 5 doses</a:t>
                </a:r>
              </a:p>
              <a:p>
                <a:r>
                  <a:rPr lang="en-US" dirty="0"/>
                  <a:t>N = 30, 45, 60 for 8 doses</a:t>
                </a:r>
              </a:p>
              <a:p>
                <a:r>
                  <a:rPr lang="en-US" dirty="0"/>
                  <a:t>For IPDE patient,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𝑖𝑝𝑑𝑒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0.3, 0.6, 0.9, 1.2, 1.5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679E6-4655-5ECF-11A1-ED62297B5C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82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B2B4B5-FF4C-28E4-47C1-58D93808DB5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adaptively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B2B4B5-FF4C-28E4-47C1-58D93808D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BE0F8-A9D1-6138-1E3C-1387662EA3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Total of K doses 1….K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𝑏𝑒𝑡𝑎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nary>
                      <m:naryPr>
                        <m:chr m:val="∏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bSup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Estimation of r can be obtained by integrating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then taking expectations</a:t>
                </a:r>
              </a:p>
              <a:p>
                <a:r>
                  <a:rPr lang="en-US" dirty="0"/>
                  <a:t>Estimation of r is plugged into previous derived two estimators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BE0F8-A9D1-6138-1E3C-1387662EA3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136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A203-AB5D-5671-6444-B54FFF61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7DD82-B983-C12A-723F-FFE83052EF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2000" dirty="0"/>
                  <a:t> are number of evaluated IPDE, regular patient without DLT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000" dirty="0"/>
                  <a:t> are observed DLT of regular and IPDE patient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7DD82-B983-C12A-723F-FFE83052EF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7BC0A6D-C056-3210-D371-F9A8930B3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76" y="4351866"/>
            <a:ext cx="9278645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87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5B5A-A74D-879B-0636-07903B81A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Pooled Estimator  - Approx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705889-4506-FBEB-0B68-A3AD18334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)/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dirty="0"/>
                  <a:t>, add truncation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With TITE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dirty="0"/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)/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705889-4506-FBEB-0B68-A3AD18334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730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83B8-1F55-EF3A-72E3-1F7A7180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Incorporate carryover into TITE-BOIN12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B78ABC-D49F-2F27-7A22-8D3D233E21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Adopt BOIN12 Approach</a:t>
                </a:r>
              </a:p>
              <a:p>
                <a:r>
                  <a:rPr lang="en-US" dirty="0"/>
                  <a:t>Joint patient outcome on patient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∈{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,(1,1)}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Utility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Utility of dose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Quasi-binomial approach: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/100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𝑏𝑖𝑛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B78ABC-D49F-2F27-7A22-8D3D233E21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0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2220-7359-85B0-5804-9B16C1F69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Incorporating carryover parameter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FB76E-8920-29E0-6DF0-BB7C55BE1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=1)=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IPDE patients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9FB76E-8920-29E0-6DF0-BB7C55BE1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883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E0F69-65C0-F46C-A5E4-B693A849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B95EB1-B615-F812-676E-A7CCA1DE7B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B95EB1-B615-F812-676E-A7CCA1DE7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81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D501-09C8-030E-B7E9-666F6C62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Efficacy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F028-840F-BC12-9930-6306DF91A5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BMA-CRM style: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Different shapes of skeleton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Example: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0.1,0.2,0.3,0.4,0.5</m:t>
                        </m:r>
                      </m:e>
                    </m:d>
                  </m:oMath>
                </a14:m>
                <a:r>
                  <a:rPr lang="en-US" b="0" dirty="0"/>
                  <a:t> for increasing curve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(0.1,0.2,0.5,0.5,0.5)</m:t>
                    </m:r>
                  </m:oMath>
                </a14:m>
                <a:r>
                  <a:rPr lang="en-US" b="0" dirty="0"/>
                  <a:t> for plateau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∫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F028-840F-BC12-9930-6306DF91A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160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DB08-BEBA-7EA8-A512-5A5DC291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81F8-773D-DE8D-1BBC-0BCFDE8BC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Measure to quantify variability in MTD selection </a:t>
            </a:r>
          </a:p>
          <a:p>
            <a:r>
              <a:rPr lang="en-US" dirty="0"/>
              <a:t>Suspension in trial design + 3 evaluated patient </a:t>
            </a:r>
          </a:p>
          <a:p>
            <a:r>
              <a:rPr lang="en-US" dirty="0"/>
              <a:t>Remove rule 5 no skipping</a:t>
            </a:r>
          </a:p>
          <a:p>
            <a:r>
              <a:rPr lang="en-US" dirty="0"/>
              <a:t>For original AIDE, consider patient arrival time, prioritize new patient </a:t>
            </a:r>
          </a:p>
          <a:p>
            <a:r>
              <a:rPr lang="en-US" dirty="0"/>
              <a:t>Toxicity – power model, efficacy – beta-binomial, two stage</a:t>
            </a:r>
          </a:p>
          <a:p>
            <a:r>
              <a:rPr lang="en-US" dirty="0"/>
              <a:t>(1,0),(0,1),(0,0),(1,1) multinomial, constraint on p1 + p3 marginal of toxicity</a:t>
            </a:r>
          </a:p>
          <a:p>
            <a:r>
              <a:rPr lang="en-US" dirty="0"/>
              <a:t>YT,YE | Z = 0 = (p1,p2,p3,p4), correlation parameter rho</a:t>
            </a:r>
          </a:p>
          <a:p>
            <a:r>
              <a:rPr lang="en-US" dirty="0"/>
              <a:t>YT,YE | Z = 1 = (p1*, p2*, p3*, p4*), same correlation parameter rho</a:t>
            </a:r>
          </a:p>
        </p:txBody>
      </p:sp>
    </p:spTree>
    <p:extLst>
      <p:ext uri="{BB962C8B-B14F-4D97-AF65-F5344CB8AC3E}">
        <p14:creationId xmlns:p14="http://schemas.microsoft.com/office/powerpoint/2010/main" val="2301365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4124</TotalTime>
  <Words>822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Alpha CRM and IPCRM </vt:lpstr>
      <vt:lpstr>CFO-PRIDE</vt:lpstr>
      <vt:lpstr>Proposed CRM</vt:lpstr>
      <vt:lpstr>Prior Settings 5 dose </vt:lpstr>
      <vt:lpstr>Prior settings 8 dose</vt:lpstr>
      <vt:lpstr>Scenario generation</vt:lpstr>
      <vt:lpstr>Estimating r adaptively</vt:lpstr>
      <vt:lpstr>Approx1</vt:lpstr>
      <vt:lpstr>Pooled Estimator  - Approx 2</vt:lpstr>
      <vt:lpstr>Incorporate carryover into TITE-BOIN12 Utility</vt:lpstr>
      <vt:lpstr>Incorporating carryover parameter r</vt:lpstr>
      <vt:lpstr>PowerPoint Presentation</vt:lpstr>
      <vt:lpstr>Possible Efficacy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Sicheng Yang</dc:creator>
  <cp:lastModifiedBy>Sicheng Yang</cp:lastModifiedBy>
  <cp:revision>3</cp:revision>
  <dcterms:created xsi:type="dcterms:W3CDTF">2026-06-28T02:25:37Z</dcterms:created>
  <dcterms:modified xsi:type="dcterms:W3CDTF">2026-07-13T14:58:44Z</dcterms:modified>
</cp:coreProperties>
</file>